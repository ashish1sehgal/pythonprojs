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1787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05156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14B8A6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51392" y="1618488"/>
            <a:ext cx="3291840" cy="3840480"/>
          </a:xfrm>
          <a:prstGeom prst="roundRect">
            <a:avLst>
              <a:gd name="adj" fmla="val 3333"/>
            </a:avLst>
          </a:prstGeom>
          <a:solidFill>
            <a:srgbClr val="F0A020">
              <a:alpha val="11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98864" y="2185416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8B5CF6">
              <a:alpha val="10000"/>
            </a:srgbClr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6858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7589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METADATA INTELLIGENCE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173736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Relationship</a:t>
            </a:r>
            <a:endParaRPr lang="en-US" sz="50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Platform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566928" y="370332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tenets · the L0 / L1 / L2 planes · global-vs-local operations · confidence scoring · scheduling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66928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~10K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66928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tables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035808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~500K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3035808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504688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504688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constraints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73568" y="4709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0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7973568" y="5230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66928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E93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Enterprise Data Architect  ·  Architecture Design Review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Discovering relationships that were never declared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warehouses rarely carry PK / FK constraints — they are dropped at ETL or never declared. The platform infers </a:t>
            </a: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 and inclusion dependencies directly from data</a:t>
            </a:r>
            <a:r>
              <a:rPr lang="en-US" sz="15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incrementally and event-driven, across a heterogeneous estate.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9718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07008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name-matching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40156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FKs (cust_ref → customer_key) are the highest-value finds and have near-zero name similarity.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51960" y="274320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971800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10328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all-pairs scans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4480560" y="340156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columns ⇒ ~10¹¹ pairs. No global O(N²) pass over data can ever be affordable.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7955280" y="2743200"/>
            <a:ext cx="342900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2971800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613648" y="2944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similarity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8183880" y="3401568"/>
            <a:ext cx="29992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FK from a 50M fact to a 250K dim has Jaccard 0.005. The question is containment, not similarity.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61772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0B2436"/>
          </a:solidFill>
          <a:ln/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29200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645920" y="48006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pair is the unit of work; the event is the trigger.</a:t>
            </a:r>
            <a:endParaRPr lang="en-US" sz="2100" dirty="0"/>
          </a:p>
        </p:txBody>
      </p:sp>
      <p:sp>
        <p:nvSpPr>
          <p:cNvPr id="20" name="Text 14"/>
          <p:cNvSpPr/>
          <p:nvPr/>
        </p:nvSpPr>
        <p:spPr>
          <a:xfrm>
            <a:off x="1645920" y="5285232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propose</a:t>
            </a:r>
            <a:r>
              <a:rPr lang="en-US" sz="13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audit logs, partition / clustering keys, vocabulary, name affinity set priority and priors.   </a:t>
            </a:r>
            <a:r>
              <a:rPr lang="en-US" sz="13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Value-based containment decides</a:t>
            </a:r>
            <a:r>
              <a:rPr lang="en-US" sz="13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only a probe confirms a relationship.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TENETS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Nine invariants the pipeline never violates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73936"/>
            <a:ext cx="457200" cy="457200"/>
          </a:xfrm>
          <a:prstGeom prst="ellipse">
            <a:avLst/>
          </a:prstGeom>
          <a:solidFill>
            <a:srgbClr val="0B243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" y="1874520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is the unit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68096" y="22677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generation proposes pairs; containment decides. Events trigger; no all-pairs batch.</a:t>
            </a:r>
            <a:endParaRPr lang="en-US" sz="1030" dirty="0"/>
          </a:p>
        </p:txBody>
      </p:sp>
      <p:sp>
        <p:nvSpPr>
          <p:cNvPr id="9" name="Shape 6"/>
          <p:cNvSpPr/>
          <p:nvPr/>
        </p:nvSpPr>
        <p:spPr>
          <a:xfrm>
            <a:off x="4279392" y="1554480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0560" y="1773936"/>
            <a:ext cx="457200" cy="457200"/>
          </a:xfrm>
          <a:prstGeom prst="ellipse">
            <a:avLst/>
          </a:prstGeom>
          <a:solidFill>
            <a:srgbClr val="0B243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87452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56632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Ratio-primary routing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98848" y="22677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Cardinality ratio routes each pair to the LSH lane or the containment lane — never Jaccard on asymmetric pairs.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8010144" y="1554480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11312" y="1773936"/>
            <a:ext cx="457200" cy="457200"/>
          </a:xfrm>
          <a:prstGeom prst="ellipse">
            <a:avLst/>
          </a:prstGeom>
          <a:solidFill>
            <a:srgbClr val="0B243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1874520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87384" y="173736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sketch identity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29600" y="2267712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Sketches compare only if (seed_version, num_perm, normalization, scope) match. Never edit a seed — add v2, re-sketch.</a:t>
            </a:r>
            <a:endParaRPr lang="en-US" sz="1030" dirty="0"/>
          </a:p>
        </p:txBody>
      </p:sp>
      <p:sp>
        <p:nvSpPr>
          <p:cNvPr id="19" name="Shape 14"/>
          <p:cNvSpPr/>
          <p:nvPr/>
        </p:nvSpPr>
        <p:spPr>
          <a:xfrm>
            <a:off x="548640" y="3163824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9808" y="3383280"/>
            <a:ext cx="457200" cy="457200"/>
          </a:xfrm>
          <a:prstGeom prst="ellipse">
            <a:avLst/>
          </a:prstGeom>
          <a:solidFill>
            <a:srgbClr val="0B243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" y="348386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33467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never vetoes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68096" y="387705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similarity is a prior, a nominator, a modulator, a disambiguator — never an exclusion path.</a:t>
            </a:r>
            <a:endParaRPr lang="en-US" sz="1030" dirty="0"/>
          </a:p>
        </p:txBody>
      </p:sp>
      <p:sp>
        <p:nvSpPr>
          <p:cNvPr id="24" name="Shape 18"/>
          <p:cNvSpPr/>
          <p:nvPr/>
        </p:nvSpPr>
        <p:spPr>
          <a:xfrm>
            <a:off x="4279392" y="3163824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480560" y="3383280"/>
            <a:ext cx="457200" cy="457200"/>
          </a:xfrm>
          <a:prstGeom prst="ellipse">
            <a:avLst/>
          </a:prstGeom>
          <a:solidFill>
            <a:srgbClr val="0B2436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348386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056632" y="33467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is gated, not summed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498848" y="387705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gate → base math → bounded semantic modulation. A weighted sum is forbidden.</a:t>
            </a:r>
            <a:endParaRPr lang="en-US" sz="1030" dirty="0"/>
          </a:p>
        </p:txBody>
      </p:sp>
      <p:sp>
        <p:nvSpPr>
          <p:cNvPr id="29" name="Shape 22"/>
          <p:cNvSpPr/>
          <p:nvPr/>
        </p:nvSpPr>
        <p:spPr>
          <a:xfrm>
            <a:off x="8010144" y="3163824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11312" y="3383280"/>
            <a:ext cx="457200" cy="457200"/>
          </a:xfrm>
          <a:prstGeom prst="ellipse">
            <a:avLst/>
          </a:prstGeom>
          <a:solidFill>
            <a:srgbClr val="0B243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1896" y="348386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87384" y="3346704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Composites never global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29600" y="3877056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per-table-pair on settlement, because component-wise unary containment is necessary for composite containment.</a:t>
            </a:r>
            <a:endParaRPr lang="en-US" sz="1030" dirty="0"/>
          </a:p>
        </p:txBody>
      </p:sp>
      <p:sp>
        <p:nvSpPr>
          <p:cNvPr id="34" name="Shape 26"/>
          <p:cNvSpPr/>
          <p:nvPr/>
        </p:nvSpPr>
        <p:spPr>
          <a:xfrm>
            <a:off x="548640" y="4773168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49808" y="4992624"/>
            <a:ext cx="457200" cy="457200"/>
          </a:xfrm>
          <a:prstGeom prst="ellipse">
            <a:avLst/>
          </a:prstGeom>
          <a:solidFill>
            <a:srgbClr val="0B2436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5093208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25880" y="49560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global sorts, ever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768096" y="5486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COUNT(DISTINCT) / ORDER-BY over large tables are banned. Sketches are sort-free MIN(FARM_FINGERPRINT).</a:t>
            </a:r>
            <a:endParaRPr lang="en-US" sz="1030" dirty="0"/>
          </a:p>
        </p:txBody>
      </p:sp>
      <p:sp>
        <p:nvSpPr>
          <p:cNvPr id="39" name="Shape 30"/>
          <p:cNvSpPr/>
          <p:nvPr/>
        </p:nvSpPr>
        <p:spPr>
          <a:xfrm>
            <a:off x="4279392" y="4773168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480560" y="4992624"/>
            <a:ext cx="457200" cy="457200"/>
          </a:xfrm>
          <a:prstGeom prst="ellipse">
            <a:avLst/>
          </a:prstGeom>
          <a:solidFill>
            <a:srgbClr val="0B2436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1144" y="5093208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056632" y="49560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once, compare forever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4498848" y="5486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 rides along the profiling scan; a new table compares against all cached sketches with no recomputation.</a:t>
            </a:r>
            <a:endParaRPr lang="en-US" sz="1030" dirty="0"/>
          </a:p>
        </p:txBody>
      </p:sp>
      <p:sp>
        <p:nvSpPr>
          <p:cNvPr id="44" name="Shape 34"/>
          <p:cNvSpPr/>
          <p:nvPr/>
        </p:nvSpPr>
        <p:spPr>
          <a:xfrm>
            <a:off x="8010144" y="4773168"/>
            <a:ext cx="3611880" cy="148132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45" name="Shape 35"/>
          <p:cNvSpPr/>
          <p:nvPr/>
        </p:nvSpPr>
        <p:spPr>
          <a:xfrm>
            <a:off x="8211312" y="4992624"/>
            <a:ext cx="457200" cy="457200"/>
          </a:xfrm>
          <a:prstGeom prst="ellipse">
            <a:avLst/>
          </a:prstGeom>
          <a:solidFill>
            <a:srgbClr val="0B2436"/>
          </a:solidFill>
          <a:ln/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11896" y="5093208"/>
            <a:ext cx="256032" cy="256032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787384" y="495604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first, LLM second</a:t>
            </a:r>
            <a:endParaRPr lang="en-US" sz="1350" dirty="0"/>
          </a:p>
        </p:txBody>
      </p:sp>
      <p:sp>
        <p:nvSpPr>
          <p:cNvPr id="48" name="Text 37"/>
          <p:cNvSpPr/>
          <p:nvPr/>
        </p:nvSpPr>
        <p:spPr>
          <a:xfrm>
            <a:off x="8229600" y="5486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refines meaning for pairs that already passed the existence gate — it never discovers or fabricates.</a:t>
            </a:r>
            <a:endParaRPr lang="en-US" sz="1030" dirty="0"/>
          </a:p>
        </p:txBody>
      </p:sp>
      <p:sp>
        <p:nvSpPr>
          <p:cNvPr id="49" name="Text 3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50" name="Text 39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5303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architecture in three planes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are table-local · comparisons are global-over-sketches · verifications are pair-local. No stage ever requires a global pass over data.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12324A"/>
          </a:solidFill>
          <a:ln w="19050">
            <a:solidFill>
              <a:srgbClr val="14B8A6"/>
            </a:solidFill>
            <a:prstDash val="solid"/>
          </a:ln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2057400"/>
            <a:ext cx="640080" cy="64008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220370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54480" y="20208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</a:rPr>
              <a:t>Ph-1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804672" y="2807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&amp; Universe Plane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804672" y="3410712"/>
            <a:ext cx="3054096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1" name="Text 7"/>
          <p:cNvSpPr/>
          <p:nvPr/>
        </p:nvSpPr>
        <p:spPr>
          <a:xfrm>
            <a:off x="804672" y="34107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metadata only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822960" y="3840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construction &amp; column fence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assignment: STANDARD / MEGA / EXCLUDED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seeding from audit logs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&amp; clustering harvest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04672" y="54589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catalogs and logs — never table data. Seconds per epoch.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315968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12324A"/>
          </a:solidFill>
          <a:ln w="19050">
            <a:solidFill>
              <a:srgbClr val="F0A020"/>
            </a:solidFill>
            <a:prstDash val="solid"/>
          </a:ln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057400"/>
            <a:ext cx="640080" cy="640080"/>
          </a:xfrm>
          <a:prstGeom prst="ellipse">
            <a:avLst/>
          </a:prstGeom>
          <a:solidFill>
            <a:srgbClr val="F0A02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8304" y="220370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321808" y="20208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A020"/>
                </a:solidFill>
                <a:latin typeface="Cambria" pitchFamily="34" charset="0"/>
                <a:ea typeface="Cambria" pitchFamily="34" charset="-122"/>
              </a:rPr>
              <a:t>Ph-2</a:t>
            </a:r>
            <a:endParaRPr lang="en-US" sz="3000" dirty="0"/>
          </a:p>
        </p:txBody>
      </p:sp>
      <p:sp>
        <p:nvSpPr>
          <p:cNvPr id="18" name="Text 13"/>
          <p:cNvSpPr/>
          <p:nvPr/>
        </p:nvSpPr>
        <p:spPr>
          <a:xfrm>
            <a:off x="4572000" y="2807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 Compute Plane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0" y="3410712"/>
            <a:ext cx="3054096" cy="274320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20" name="Text 15"/>
          <p:cNvSpPr/>
          <p:nvPr/>
        </p:nvSpPr>
        <p:spPr>
          <a:xfrm>
            <a:off x="4572000" y="34107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TABLE-LOCAL · event-driven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590288" y="3840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 + sketch ride-along (one scan)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HLL · null rates · k-permutation MinHash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Byte-budgeted, idempotent batch writes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Data-fingerprint computation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572000" y="54589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place data is scanned. Marginal sketch cost ≈ 0.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8083296" y="178308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12324A"/>
          </a:solidFill>
          <a:ln w="19050">
            <a:solidFill>
              <a:srgbClr val="8B5CF6"/>
            </a:solidFill>
            <a:prstDash val="solid"/>
          </a:ln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339328" y="2057400"/>
            <a:ext cx="640080" cy="64008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5632" y="2203704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89136" y="202082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Ph-3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8339328" y="28072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Verification Plane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339328" y="3410712"/>
            <a:ext cx="3054096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29" name="Text 23"/>
          <p:cNvSpPr/>
          <p:nvPr/>
        </p:nvSpPr>
        <p:spPr>
          <a:xfrm>
            <a:off x="8339328" y="3410712"/>
            <a:ext cx="3054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sketches + PAIR-LOCAL probes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8357616" y="384048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LSH banding over ~150 MB of sketches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Pair-local directional containment probes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confidence + steward settlement</a:t>
            </a:r>
            <a:endParaRPr lang="en-US" sz="1100" dirty="0"/>
          </a:p>
          <a:p>
            <a:pPr marL="152400" indent="-1524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discovery (per-table-pair)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8339328" y="54589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Comparisons over sketches; verifications touch exactly two tables.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oundRect">
            <a:avLst>
              <a:gd name="adj" fmla="val 2143"/>
            </a:avLst>
          </a:prstGeom>
          <a:solidFill>
            <a:srgbClr val="0B243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325880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3258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· METADATA ONLY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Ph-1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Metadata &amp;</a:t>
            </a:r>
            <a:endParaRPr lang="en-US" sz="25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Universe Plane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397764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C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over INFORMATION_SCHEMA, the profile-stats store and query audit logs. Reads catalogs and logs, never table data — runs in seconds per discovery epoch.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06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L0 PRODUCES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96012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43984" y="1216152"/>
            <a:ext cx="566928" cy="566928"/>
          </a:xfrm>
          <a:prstGeom prst="ellipse">
            <a:avLst/>
          </a:prstGeom>
          <a:solidFill>
            <a:srgbClr val="E7F6F3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35331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38928" y="12527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&amp; fence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462272" y="189280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cols → type fence → signal fence → ~160K eligible. Removes flags, constants, free-text, all-null columns.</a:t>
            </a:r>
            <a:endParaRPr lang="en-US" sz="1130" dirty="0"/>
          </a:p>
        </p:txBody>
      </p:sp>
      <p:sp>
        <p:nvSpPr>
          <p:cNvPr id="15" name="Shape 11"/>
          <p:cNvSpPr/>
          <p:nvPr/>
        </p:nvSpPr>
        <p:spPr>
          <a:xfrm>
            <a:off x="8001000" y="96012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38744" y="1216152"/>
            <a:ext cx="566928" cy="566928"/>
          </a:xfrm>
          <a:prstGeom prst="ellipse">
            <a:avLst/>
          </a:prstGeom>
          <a:solidFill>
            <a:srgbClr val="E7F6F3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135331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33688" y="125272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assignment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57032" y="189280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tier is sketched. MEGA (&gt; 10M distinct) is never sketched — every pair it joins is asymmetric or Mega×Mega. EXCLUDED is fenced out.</a:t>
            </a:r>
            <a:endParaRPr lang="en-US" sz="1130" dirty="0"/>
          </a:p>
        </p:txBody>
      </p:sp>
      <p:sp>
        <p:nvSpPr>
          <p:cNvPr id="20" name="Shape 15"/>
          <p:cNvSpPr/>
          <p:nvPr/>
        </p:nvSpPr>
        <p:spPr>
          <a:xfrm>
            <a:off x="4206240" y="342900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443984" y="3685032"/>
            <a:ext cx="566928" cy="566928"/>
          </a:xfrm>
          <a:prstGeom prst="ellipse">
            <a:avLst/>
          </a:prstGeom>
          <a:solidFill>
            <a:srgbClr val="E7F6F3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1144" y="382219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138928" y="37216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seeding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4462272" y="436168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JOBS_BY_ORGANIZATION audit logs (sqlglot). Unary joins → work queue with high prior; composite joins → held for L2.</a:t>
            </a:r>
            <a:endParaRPr lang="en-US" sz="1130" dirty="0"/>
          </a:p>
        </p:txBody>
      </p:sp>
      <p:sp>
        <p:nvSpPr>
          <p:cNvPr id="25" name="Shape 19"/>
          <p:cNvSpPr/>
          <p:nvPr/>
        </p:nvSpPr>
        <p:spPr>
          <a:xfrm>
            <a:off x="8001000" y="342900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38744" y="3685032"/>
            <a:ext cx="566928" cy="566928"/>
          </a:xfrm>
          <a:prstGeom prst="ellipse">
            <a:avLst/>
          </a:prstGeom>
          <a:solidFill>
            <a:srgbClr val="E7F6F3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75904" y="3822192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33688" y="37216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/ cluster harvest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8257032" y="4361688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partition &amp; clustering keys become priority boosts and Tier-1 composite seeds — the strongest declarative signal short of a constraint.</a:t>
            </a:r>
            <a:endParaRPr lang="en-US" sz="1130" dirty="0"/>
          </a:p>
        </p:txBody>
      </p:sp>
      <p:sp>
        <p:nvSpPr>
          <p:cNvPr id="30" name="Text 2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oundRect">
            <a:avLst>
              <a:gd name="adj" fmla="val 2143"/>
            </a:avLst>
          </a:prstGeom>
          <a:solidFill>
            <a:srgbClr val="0B243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325880"/>
            <a:ext cx="2468880" cy="329184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325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TABLE-LOCAL · EVENT-DRIVEN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0A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Ph-2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Per-Table</a:t>
            </a:r>
            <a:endParaRPr lang="en-US" sz="2500" dirty="0"/>
          </a:p>
          <a:p>
            <a:pPr marL="0" indent="0">
              <a:lnSpc>
                <a:spcPts val="27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Plane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502920" y="39776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C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place the platform ever scans data — and it rides along the single-table profiling scan you already pay for. Triggered by the table-arrival / load event, not a calendar.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06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SCAN, EMITTED TOGETHER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960120"/>
            <a:ext cx="740664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4173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234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profiling scan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120640" y="162763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are read anyway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269480" y="1709928"/>
            <a:ext cx="457200" cy="0"/>
          </a:xfrm>
          <a:prstGeom prst="line">
            <a:avLst/>
          </a:prstGeom>
          <a:noFill/>
          <a:ln w="31750">
            <a:solidFill>
              <a:srgbClr val="F0A020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7818120" y="1234440"/>
            <a:ext cx="1170432" cy="914400"/>
          </a:xfrm>
          <a:prstGeom prst="roundRect">
            <a:avLst>
              <a:gd name="adj" fmla="val 9000"/>
            </a:avLst>
          </a:prstGeom>
          <a:solidFill>
            <a:srgbClr val="FBF1DF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818120" y="13716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HLL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7818120" y="17373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count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9098280" y="1234440"/>
            <a:ext cx="1170432" cy="914400"/>
          </a:xfrm>
          <a:prstGeom prst="roundRect">
            <a:avLst>
              <a:gd name="adj" fmla="val 9000"/>
            </a:avLst>
          </a:prstGeom>
          <a:solidFill>
            <a:srgbClr val="FBF1DF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9098280" y="13716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9098280" y="17373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fraction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10378440" y="1234440"/>
            <a:ext cx="1170432" cy="914400"/>
          </a:xfrm>
          <a:prstGeom prst="roundRect">
            <a:avLst>
              <a:gd name="adj" fmla="val 9000"/>
            </a:avLst>
          </a:prstGeom>
          <a:solidFill>
            <a:srgbClr val="FBF1DF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0378440" y="137160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MinHash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10378440" y="173736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MIN(FARM_FP)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4206240" y="2697480"/>
            <a:ext cx="2331720" cy="3063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425696" y="2953512"/>
            <a:ext cx="530352" cy="530352"/>
          </a:xfrm>
          <a:prstGeom prst="ellipse">
            <a:avLst/>
          </a:prstGeom>
          <a:solidFill>
            <a:srgbClr val="FBF1DF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308152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425696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Sort-free MinHash</a:t>
            </a:r>
            <a:endParaRPr lang="en-US" sz="1350" dirty="0"/>
          </a:p>
        </p:txBody>
      </p:sp>
      <p:sp>
        <p:nvSpPr>
          <p:cNvPr id="28" name="Text 23"/>
          <p:cNvSpPr/>
          <p:nvPr/>
        </p:nvSpPr>
        <p:spPr>
          <a:xfrm>
            <a:off x="4425696" y="4270248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k-permutation via MIN(FARM_FINGERPRINT(CONCAT(seed,val))) — monoidal, no ORDER BY, no COUNT(DISTINCT). Empirically 10 min vs 3.5 h.</a:t>
            </a:r>
            <a:endParaRPr lang="en-US" sz="1080" dirty="0"/>
          </a:p>
        </p:txBody>
      </p:sp>
      <p:sp>
        <p:nvSpPr>
          <p:cNvPr id="29" name="Shape 24"/>
          <p:cNvSpPr/>
          <p:nvPr/>
        </p:nvSpPr>
        <p:spPr>
          <a:xfrm>
            <a:off x="6693408" y="2697480"/>
            <a:ext cx="2331720" cy="3063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6912864" y="2953512"/>
            <a:ext cx="530352" cy="530352"/>
          </a:xfrm>
          <a:prstGeom prst="ellipse">
            <a:avLst/>
          </a:prstGeom>
          <a:solidFill>
            <a:srgbClr val="FBF1DF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081528"/>
            <a:ext cx="274320" cy="2743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12864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Byte-budget packer</a:t>
            </a:r>
            <a:endParaRPr lang="en-US" sz="1350" dirty="0"/>
          </a:p>
        </p:txBody>
      </p:sp>
      <p:sp>
        <p:nvSpPr>
          <p:cNvPr id="33" name="Text 27"/>
          <p:cNvSpPr/>
          <p:nvPr/>
        </p:nvSpPr>
        <p:spPr>
          <a:xfrm>
            <a:off x="6912864" y="4270248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tables split into batches under a scan-byte ceiling; per-batch idempotent writes to the sketch cache under a queue FSM.</a:t>
            </a:r>
            <a:endParaRPr lang="en-US" sz="1080" dirty="0"/>
          </a:p>
        </p:txBody>
      </p:sp>
      <p:sp>
        <p:nvSpPr>
          <p:cNvPr id="34" name="Shape 28"/>
          <p:cNvSpPr/>
          <p:nvPr/>
        </p:nvSpPr>
        <p:spPr>
          <a:xfrm>
            <a:off x="9180576" y="2697480"/>
            <a:ext cx="2331720" cy="306324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9400032" y="2953512"/>
            <a:ext cx="530352" cy="530352"/>
          </a:xfrm>
          <a:prstGeom prst="ellipse">
            <a:avLst/>
          </a:prstGeom>
          <a:solidFill>
            <a:srgbClr val="FBF1DF"/>
          </a:solidFill>
          <a:ln/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048" y="3081528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9400032" y="36118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fingerprint</a:t>
            </a:r>
            <a:endParaRPr lang="en-US" sz="1350" dirty="0"/>
          </a:p>
        </p:txBody>
      </p:sp>
      <p:sp>
        <p:nvSpPr>
          <p:cNvPr id="38" name="Text 31"/>
          <p:cNvSpPr/>
          <p:nvPr/>
        </p:nvSpPr>
        <p:spPr>
          <a:xfrm>
            <a:off x="9400032" y="4270248"/>
            <a:ext cx="1965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hash(row_count ‖ distinct ‖ p95) per table — the cheap change-detector that drives incremental re-evaluation and re-probes.</a:t>
            </a:r>
            <a:endParaRPr lang="en-US" sz="1080" dirty="0"/>
          </a:p>
        </p:txBody>
      </p:sp>
      <p:sp>
        <p:nvSpPr>
          <p:cNvPr id="39" name="Text 32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40" name="Text 33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oundRect">
            <a:avLst>
              <a:gd name="adj" fmla="val 2143"/>
            </a:avLst>
          </a:prstGeom>
          <a:solidFill>
            <a:srgbClr val="0B2436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59436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02920" y="1325880"/>
            <a:ext cx="2880360" cy="32918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5" name="Text 2"/>
          <p:cNvSpPr/>
          <p:nvPr/>
        </p:nvSpPr>
        <p:spPr>
          <a:xfrm>
            <a:off x="502920" y="132588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SKETCHES + PAIR-LOCAL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7830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Ph-3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502920" y="278892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&amp;</a:t>
            </a:r>
            <a:endParaRPr lang="en-US" sz="2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Plane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4023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AFC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global comparison is a hash-and-group over sketches, not data. Everything that touches data here is a pair-local probe on exactly two tables.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2062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SUB-OPERATION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06240" y="777240"/>
            <a:ext cx="74066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14B8A6"/>
            </a:solidFill>
            <a:prstDash val="solid"/>
          </a:ln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14300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93268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banding over the sketch cache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83480" y="1325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150K sketches × 128 hashes × 8 B ≈ 150 MB — fits one Spark executor. Insert-only: new sketches hash into existing bands, emitting only new collisions. Never re-band the world.</a:t>
            </a:r>
            <a:endParaRPr lang="en-US" sz="1130" dirty="0"/>
          </a:p>
        </p:txBody>
      </p:sp>
      <p:sp>
        <p:nvSpPr>
          <p:cNvPr id="14" name="Shape 10"/>
          <p:cNvSpPr/>
          <p:nvPr/>
        </p:nvSpPr>
        <p:spPr>
          <a:xfrm>
            <a:off x="10378440" y="932688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5" name="Text 11"/>
          <p:cNvSpPr/>
          <p:nvPr/>
        </p:nvSpPr>
        <p:spPr>
          <a:xfrm>
            <a:off x="10378440" y="932688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MB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206240" y="2395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PAIR-LOCAL SUB-OPERATIONS (TWO TABLES ONLY)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206240" y="278892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7F3FE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407408" y="30083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2564" y="311353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83480" y="2990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lane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443984" y="348386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semi-join on the distinct value domain; build on the smaller side. Assigns FK direction — what Jaccard never could.</a:t>
            </a:r>
            <a:endParaRPr lang="en-US" sz="1030" dirty="0"/>
          </a:p>
        </p:txBody>
      </p:sp>
      <p:sp>
        <p:nvSpPr>
          <p:cNvPr id="22" name="Shape 17"/>
          <p:cNvSpPr/>
          <p:nvPr/>
        </p:nvSpPr>
        <p:spPr>
          <a:xfrm>
            <a:off x="8001000" y="278892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7F3FE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202168" y="30083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7324" y="311353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778240" y="29900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lane + confirm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8238744" y="348386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 proposes peers; an IND containment probe confirms before scoring. LSH proposes, containment decides.</a:t>
            </a:r>
            <a:endParaRPr lang="en-US" sz="1030" dirty="0"/>
          </a:p>
        </p:txBody>
      </p:sp>
      <p:sp>
        <p:nvSpPr>
          <p:cNvPr id="27" name="Shape 21"/>
          <p:cNvSpPr/>
          <p:nvPr/>
        </p:nvSpPr>
        <p:spPr>
          <a:xfrm>
            <a:off x="4206240" y="438912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7F3FE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4407408" y="46085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2564" y="471373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983480" y="4590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confidence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443984" y="508406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gate → base math → bounded semantic modulation → steward band. Detailed on the confidence slides.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8001000" y="4389120"/>
            <a:ext cx="3566160" cy="1463040"/>
          </a:xfrm>
          <a:prstGeom prst="roundRect">
            <a:avLst>
              <a:gd name="adj" fmla="val 5625"/>
            </a:avLst>
          </a:prstGeom>
          <a:solidFill>
            <a:srgbClr val="F7F3FE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8202168" y="4608576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7324" y="4713732"/>
            <a:ext cx="256032" cy="256032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778240" y="45902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discovery</a:t>
            </a:r>
            <a:endParaRPr lang="en-US" sz="1350" dirty="0"/>
          </a:p>
        </p:txBody>
      </p:sp>
      <p:sp>
        <p:nvSpPr>
          <p:cNvPr id="36" name="Text 28"/>
          <p:cNvSpPr/>
          <p:nvPr/>
        </p:nvSpPr>
        <p:spPr>
          <a:xfrm>
            <a:off x="8238744" y="5084064"/>
            <a:ext cx="3154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3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per-table-pair once ≥ 2 same-direction unary edges settle. CONCAT projection → uniqueness → cardinality → probe.</a:t>
            </a:r>
            <a:endParaRPr lang="en-US" sz="1030" dirty="0"/>
          </a:p>
        </p:txBody>
      </p:sp>
      <p:sp>
        <p:nvSpPr>
          <p:cNvPr id="37" name="Text 2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38" name="Text 30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VS LOCAL — THE OPERATION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once for the world, once per table, and once per pair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insight: every global operation runs over sketches or metadata — never over data. Only per-table operations scan bytes.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7452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14B8A6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31720"/>
            <a:ext cx="3566160" cy="4572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30552"/>
            <a:ext cx="402336" cy="40233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020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325880" y="2404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sketches &amp; metadata — never data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822960" y="3008376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28986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&amp; fence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078992" y="32186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pass over INFORMATION_SCHEMA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822960" y="3803904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1078992" y="369417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seeding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78992" y="40142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 parse → work queue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22960" y="4599432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5"/>
          <p:cNvSpPr/>
          <p:nvPr/>
        </p:nvSpPr>
        <p:spPr>
          <a:xfrm>
            <a:off x="1078992" y="448970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banding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078992" y="48097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hash-and-group over ~150 MB, incremental delta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2960" y="5394960"/>
            <a:ext cx="128016" cy="12801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Text 18"/>
          <p:cNvSpPr/>
          <p:nvPr/>
        </p:nvSpPr>
        <p:spPr>
          <a:xfrm>
            <a:off x="1078992" y="52852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× Mega enumerate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078992" y="5605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thousand pairs after fencing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315968" y="187452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315968" y="187452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F0A020"/>
          </a:solidFill>
          <a:ln/>
        </p:spPr>
      </p:sp>
      <p:sp>
        <p:nvSpPr>
          <p:cNvPr id="25" name="Shape 22"/>
          <p:cNvSpPr/>
          <p:nvPr/>
        </p:nvSpPr>
        <p:spPr>
          <a:xfrm>
            <a:off x="4315968" y="2331720"/>
            <a:ext cx="3566160" cy="457200"/>
          </a:xfrm>
          <a:prstGeom prst="rect">
            <a:avLst/>
          </a:prstGeom>
          <a:solidFill>
            <a:srgbClr val="F0A020"/>
          </a:solidFill>
          <a:ln/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30552"/>
            <a:ext cx="402336" cy="40233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093208" y="2020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PER-TABLE</a:t>
            </a:r>
            <a:endParaRPr lang="en-US" sz="2000" dirty="0"/>
          </a:p>
        </p:txBody>
      </p:sp>
      <p:sp>
        <p:nvSpPr>
          <p:cNvPr id="28" name="Text 24"/>
          <p:cNvSpPr/>
          <p:nvPr/>
        </p:nvSpPr>
        <p:spPr>
          <a:xfrm>
            <a:off x="5093208" y="2404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4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data scans — event-driven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4590288" y="3008376"/>
            <a:ext cx="128016" cy="128016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30" name="Text 26"/>
          <p:cNvSpPr/>
          <p:nvPr/>
        </p:nvSpPr>
        <p:spPr>
          <a:xfrm>
            <a:off x="4846320" y="28986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sketch ride-along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4846320" y="32186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HLL · nulls · MinHash in one scan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4590288" y="3803904"/>
            <a:ext cx="128016" cy="128016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33" name="Text 29"/>
          <p:cNvSpPr/>
          <p:nvPr/>
        </p:nvSpPr>
        <p:spPr>
          <a:xfrm>
            <a:off x="4846320" y="369417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ingestion</a:t>
            </a:r>
            <a:endParaRPr lang="en-US" sz="1250" dirty="0"/>
          </a:p>
        </p:txBody>
      </p:sp>
      <p:sp>
        <p:nvSpPr>
          <p:cNvPr id="34" name="Text 30"/>
          <p:cNvSpPr/>
          <p:nvPr/>
        </p:nvSpPr>
        <p:spPr>
          <a:xfrm>
            <a:off x="4846320" y="40142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byte-budgeted idempotent batches</a:t>
            </a:r>
            <a:endParaRPr lang="en-US" sz="1000" dirty="0"/>
          </a:p>
        </p:txBody>
      </p:sp>
      <p:sp>
        <p:nvSpPr>
          <p:cNvPr id="35" name="Shape 31"/>
          <p:cNvSpPr/>
          <p:nvPr/>
        </p:nvSpPr>
        <p:spPr>
          <a:xfrm>
            <a:off x="4590288" y="4599432"/>
            <a:ext cx="128016" cy="128016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36" name="Text 32"/>
          <p:cNvSpPr/>
          <p:nvPr/>
        </p:nvSpPr>
        <p:spPr>
          <a:xfrm>
            <a:off x="4846320" y="448970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compute</a:t>
            </a:r>
            <a:endParaRPr lang="en-US" sz="1250" dirty="0"/>
          </a:p>
        </p:txBody>
      </p:sp>
      <p:sp>
        <p:nvSpPr>
          <p:cNvPr id="37" name="Text 33"/>
          <p:cNvSpPr/>
          <p:nvPr/>
        </p:nvSpPr>
        <p:spPr>
          <a:xfrm>
            <a:off x="4846320" y="48097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change-detector</a:t>
            </a:r>
            <a:endParaRPr lang="en-US" sz="1000" dirty="0"/>
          </a:p>
        </p:txBody>
      </p:sp>
      <p:sp>
        <p:nvSpPr>
          <p:cNvPr id="38" name="Shape 34"/>
          <p:cNvSpPr/>
          <p:nvPr/>
        </p:nvSpPr>
        <p:spPr>
          <a:xfrm>
            <a:off x="4590288" y="5394960"/>
            <a:ext cx="128016" cy="128016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39" name="Text 35"/>
          <p:cNvSpPr/>
          <p:nvPr/>
        </p:nvSpPr>
        <p:spPr>
          <a:xfrm>
            <a:off x="4846320" y="52852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trigger</a:t>
            </a:r>
            <a:endParaRPr lang="en-US" sz="1250" dirty="0"/>
          </a:p>
        </p:txBody>
      </p:sp>
      <p:sp>
        <p:nvSpPr>
          <p:cNvPr id="40" name="Text 36"/>
          <p:cNvSpPr/>
          <p:nvPr/>
        </p:nvSpPr>
        <p:spPr>
          <a:xfrm>
            <a:off x="4846320" y="5605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table → sketch → band delta</a:t>
            </a:r>
            <a:endParaRPr lang="en-US" sz="1000" dirty="0"/>
          </a:p>
        </p:txBody>
      </p:sp>
      <p:sp>
        <p:nvSpPr>
          <p:cNvPr id="41" name="Shape 37"/>
          <p:cNvSpPr/>
          <p:nvPr/>
        </p:nvSpPr>
        <p:spPr>
          <a:xfrm>
            <a:off x="8083296" y="1874520"/>
            <a:ext cx="3566160" cy="43434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42" name="Shape 38"/>
          <p:cNvSpPr/>
          <p:nvPr/>
        </p:nvSpPr>
        <p:spPr>
          <a:xfrm>
            <a:off x="8083296" y="1874520"/>
            <a:ext cx="3566160" cy="914400"/>
          </a:xfrm>
          <a:prstGeom prst="roundRect">
            <a:avLst>
              <a:gd name="adj" fmla="val 9000"/>
            </a:avLst>
          </a:prstGeom>
          <a:solidFill>
            <a:srgbClr val="8B5CF6"/>
          </a:solidFill>
          <a:ln/>
        </p:spPr>
      </p:sp>
      <p:sp>
        <p:nvSpPr>
          <p:cNvPr id="43" name="Shape 39"/>
          <p:cNvSpPr/>
          <p:nvPr/>
        </p:nvSpPr>
        <p:spPr>
          <a:xfrm>
            <a:off x="8083296" y="2331720"/>
            <a:ext cx="3566160" cy="457200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9328" y="2130552"/>
            <a:ext cx="402336" cy="402336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8860536" y="2020824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PAIR-LOCAL</a:t>
            </a:r>
            <a:endParaRPr lang="en-US" sz="2000" dirty="0"/>
          </a:p>
        </p:txBody>
      </p:sp>
      <p:sp>
        <p:nvSpPr>
          <p:cNvPr id="46" name="Text 41"/>
          <p:cNvSpPr/>
          <p:nvPr/>
        </p:nvSpPr>
        <p:spPr>
          <a:xfrm>
            <a:off x="8860536" y="24048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EA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exactly two tables</a:t>
            </a:r>
            <a:endParaRPr lang="en-US" sz="950" dirty="0"/>
          </a:p>
        </p:txBody>
      </p:sp>
      <p:sp>
        <p:nvSpPr>
          <p:cNvPr id="47" name="Shape 42"/>
          <p:cNvSpPr/>
          <p:nvPr/>
        </p:nvSpPr>
        <p:spPr>
          <a:xfrm>
            <a:off x="8357616" y="3008376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8" name="Text 43"/>
          <p:cNvSpPr/>
          <p:nvPr/>
        </p:nvSpPr>
        <p:spPr>
          <a:xfrm>
            <a:off x="8613648" y="2898648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probe</a:t>
            </a:r>
            <a:endParaRPr lang="en-US" sz="1250" dirty="0"/>
          </a:p>
        </p:txBody>
      </p:sp>
      <p:sp>
        <p:nvSpPr>
          <p:cNvPr id="49" name="Text 44"/>
          <p:cNvSpPr/>
          <p:nvPr/>
        </p:nvSpPr>
        <p:spPr>
          <a:xfrm>
            <a:off x="8613648" y="321868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directional, build on smaller side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8357616" y="3803904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1" name="Text 46"/>
          <p:cNvSpPr/>
          <p:nvPr/>
        </p:nvSpPr>
        <p:spPr>
          <a:xfrm>
            <a:off x="8613648" y="3694176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LSH-lane IND confirm</a:t>
            </a:r>
            <a:endParaRPr lang="en-US" sz="1250" dirty="0"/>
          </a:p>
        </p:txBody>
      </p:sp>
      <p:sp>
        <p:nvSpPr>
          <p:cNvPr id="52" name="Text 47"/>
          <p:cNvSpPr/>
          <p:nvPr/>
        </p:nvSpPr>
        <p:spPr>
          <a:xfrm>
            <a:off x="8613648" y="4014216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 proposes, probe decides</a:t>
            </a:r>
            <a:endParaRPr lang="en-US" sz="1000" dirty="0"/>
          </a:p>
        </p:txBody>
      </p:sp>
      <p:sp>
        <p:nvSpPr>
          <p:cNvPr id="53" name="Shape 48"/>
          <p:cNvSpPr/>
          <p:nvPr/>
        </p:nvSpPr>
        <p:spPr>
          <a:xfrm>
            <a:off x="8357616" y="4599432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4" name="Text 49"/>
          <p:cNvSpPr/>
          <p:nvPr/>
        </p:nvSpPr>
        <p:spPr>
          <a:xfrm>
            <a:off x="8613648" y="4489704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verify</a:t>
            </a:r>
            <a:endParaRPr lang="en-US" sz="1250" dirty="0"/>
          </a:p>
        </p:txBody>
      </p:sp>
      <p:sp>
        <p:nvSpPr>
          <p:cNvPr id="55" name="Text 50"/>
          <p:cNvSpPr/>
          <p:nvPr/>
        </p:nvSpPr>
        <p:spPr>
          <a:xfrm>
            <a:off x="8613648" y="480974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settled table-pair, never global</a:t>
            </a:r>
            <a:endParaRPr lang="en-US" sz="1000" dirty="0"/>
          </a:p>
        </p:txBody>
      </p:sp>
      <p:sp>
        <p:nvSpPr>
          <p:cNvPr id="56" name="Shape 51"/>
          <p:cNvSpPr/>
          <p:nvPr/>
        </p:nvSpPr>
        <p:spPr>
          <a:xfrm>
            <a:off x="8357616" y="5394960"/>
            <a:ext cx="128016" cy="12801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7" name="Text 52"/>
          <p:cNvSpPr/>
          <p:nvPr/>
        </p:nvSpPr>
        <p:spPr>
          <a:xfrm>
            <a:off x="8613648" y="528523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monitor</a:t>
            </a:r>
            <a:endParaRPr lang="en-US" sz="1250" dirty="0"/>
          </a:p>
        </p:txBody>
      </p:sp>
      <p:sp>
        <p:nvSpPr>
          <p:cNvPr id="58" name="Text 53"/>
          <p:cNvSpPr/>
          <p:nvPr/>
        </p:nvSpPr>
        <p:spPr>
          <a:xfrm>
            <a:off x="8613648" y="56052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re-probe on fingerprint drift</a:t>
            </a:r>
            <a:endParaRPr lang="en-US" sz="1000" dirty="0"/>
          </a:p>
        </p:txBody>
      </p:sp>
      <p:sp>
        <p:nvSpPr>
          <p:cNvPr id="59" name="Text 54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60" name="Text 55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RATIO-PRIMARY LANE ROUTING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Containment, not similarity, is the right question for FKs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2286000"/>
          </a:xfrm>
          <a:prstGeom prst="roundRect">
            <a:avLst>
              <a:gd name="adj" fmla="val 3600"/>
            </a:avLst>
          </a:prstGeom>
          <a:solidFill>
            <a:srgbClr val="0B2436"/>
          </a:solidFill>
          <a:ln/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trap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Jaccard(A,B)  ≤  dc_parent / dc_child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8892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 FK from a </a:t>
            </a:r>
            <a:r>
              <a:rPr lang="en-US" sz="12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50M-row fact</a:t>
            </a: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</a:t>
            </a:r>
            <a:r>
              <a:rPr lang="en-US" sz="1250" b="1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250K-row dim</a:t>
            </a: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has Jaccard ≈ </a:t>
            </a:r>
            <a:r>
              <a:rPr lang="en-US" sz="1250" b="1" dirty="0">
                <a:solidFill>
                  <a:srgbClr val="F0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0.005</a:t>
            </a:r>
            <a:r>
              <a:rPr lang="en-US" sz="1250" dirty="0">
                <a:solidFill>
                  <a:srgbClr val="C7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 banding threshold can recover it — the metric itself is wrong for subset relationships.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89320" y="1554480"/>
            <a:ext cx="56235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830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766560" y="18013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rule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63640" y="2331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dc_large / dc_small  &gt;  1 / t_LSH   →   CONTAINMENT lane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263640" y="2788920"/>
            <a:ext cx="5074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domains → </a:t>
            </a:r>
            <a:r>
              <a:rPr lang="en-US" sz="118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lane</a:t>
            </a:r>
            <a:r>
              <a:rPr lang="en-US" sz="11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(Jaccard is meaningful).   Asymmetric → </a:t>
            </a:r>
            <a:r>
              <a:rPr lang="en-US" sz="118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lane</a:t>
            </a:r>
            <a:r>
              <a:rPr lang="en-US" sz="11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(direction is the question).   The MEGA line (&gt; 10M) only decides what is never </a:t>
            </a:r>
            <a:r>
              <a:rPr lang="en-US" sz="1180" i="1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sketched</a:t>
            </a:r>
            <a:r>
              <a:rPr lang="en-US" sz="11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ratio rule would route it correctly regardless.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E7F6F3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04672" y="43891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451713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0876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lane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22960" y="51206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/ sibling relationships between similarly-sized value domains. Banding proposes candidates; a confirming IND probe still decides.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172200" y="4114800"/>
            <a:ext cx="5212080" cy="1874520"/>
          </a:xfrm>
          <a:prstGeom prst="roundRect">
            <a:avLst>
              <a:gd name="adj" fmla="val 4390"/>
            </a:avLst>
          </a:prstGeom>
          <a:solidFill>
            <a:srgbClr val="F7F3FE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28232" y="43891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4517136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lane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6446520" y="5120640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FK crown jewels: size-asymmetric pairs. A directional semi-join builds the filter on the smaller side and probes the larger — assigning direction.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24" name="Text 19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5303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gated, not summed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66928" y="1143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is evidence of meaning, not of existence. A weighted sum would let a strong name manufacture confidence for a relationship that isn't in the data.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48640" y="178308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2324A"/>
          </a:solidFill>
          <a:ln w="16510">
            <a:solidFill>
              <a:srgbClr val="14B8A6"/>
            </a:solidFill>
            <a:prstDash val="solid"/>
          </a:ln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2057400"/>
            <a:ext cx="658368" cy="6583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591056" y="209397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gate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04672" y="2880360"/>
            <a:ext cx="3054096" cy="566928"/>
          </a:xfrm>
          <a:prstGeom prst="roundRect">
            <a:avLst>
              <a:gd name="adj" fmla="val 14516"/>
            </a:avLst>
          </a:prstGeom>
          <a:solidFill>
            <a:srgbClr val="0B2436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880360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4B8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containment = max(a⊆b, b⊆a)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2960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the floor the pair caps at WEAK. No semantic signal can rescue it. This gate is the containment-lane output — pure math.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4133088" y="3223260"/>
            <a:ext cx="73152" cy="0"/>
          </a:xfrm>
          <a:prstGeom prst="line">
            <a:avLst/>
          </a:prstGeom>
          <a:noFill/>
          <a:ln w="25400">
            <a:solidFill>
              <a:srgbClr val="8FA0AD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315968" y="178308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2324A"/>
          </a:solidFill>
          <a:ln w="16510">
            <a:solidFill>
              <a:srgbClr val="F0A020"/>
            </a:solidFill>
            <a:prstDash val="solid"/>
          </a:ln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2057400"/>
            <a:ext cx="658368" cy="658368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0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5358384" y="209397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math confidence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4572000" y="2880360"/>
            <a:ext cx="3054096" cy="566928"/>
          </a:xfrm>
          <a:prstGeom prst="roundRect">
            <a:avLst>
              <a:gd name="adj" fmla="val 14516"/>
            </a:avLst>
          </a:prstGeom>
          <a:solidFill>
            <a:srgbClr val="0B2436"/>
          </a:solidFill>
          <a:ln/>
        </p:spPr>
      </p:sp>
      <p:sp>
        <p:nvSpPr>
          <p:cNvPr id="18" name="Text 15"/>
          <p:cNvSpPr/>
          <p:nvPr/>
        </p:nvSpPr>
        <p:spPr>
          <a:xfrm>
            <a:off x="4608576" y="2880360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f(containment, direction, cardinality)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590288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value-grounded number from the IND probe and the cardinality ratio you already computed. Zero semantic input.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7900416" y="3223260"/>
            <a:ext cx="73152" cy="0"/>
          </a:xfrm>
          <a:prstGeom prst="line">
            <a:avLst/>
          </a:prstGeom>
          <a:noFill/>
          <a:ln w="25400">
            <a:solidFill>
              <a:srgbClr val="8FA0AD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8083296" y="1783080"/>
            <a:ext cx="3566160" cy="2880360"/>
          </a:xfrm>
          <a:prstGeom prst="roundRect">
            <a:avLst>
              <a:gd name="adj" fmla="val 2857"/>
            </a:avLst>
          </a:prstGeom>
          <a:solidFill>
            <a:srgbClr val="12324A"/>
          </a:solidFill>
          <a:ln w="16510">
            <a:solidFill>
              <a:srgbClr val="8B5CF6"/>
            </a:solidFill>
            <a:prstDash val="solid"/>
          </a:ln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339328" y="2057400"/>
            <a:ext cx="658368" cy="658368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3" name="Text 20"/>
          <p:cNvSpPr/>
          <p:nvPr/>
        </p:nvSpPr>
        <p:spPr>
          <a:xfrm>
            <a:off x="8339328" y="2057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9125712" y="2093976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semantic modulation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8339328" y="2880360"/>
            <a:ext cx="3054096" cy="566928"/>
          </a:xfrm>
          <a:prstGeom prst="roundRect">
            <a:avLst>
              <a:gd name="adj" fmla="val 14516"/>
            </a:avLst>
          </a:prstGeom>
          <a:solidFill>
            <a:srgbClr val="0B2436"/>
          </a:solidFill>
          <a:ln/>
        </p:spPr>
      </p:sp>
      <p:sp>
        <p:nvSpPr>
          <p:cNvPr id="26" name="Text 23"/>
          <p:cNvSpPr/>
          <p:nvPr/>
        </p:nvSpPr>
        <p:spPr>
          <a:xfrm>
            <a:off x="8375904" y="2880360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× (1 + α·(sem − 0.5))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357616" y="35661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8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names nudge UP, poor names DOWN — swing bounded to ±α/2 (α≈0.2). Semantics tune a real number; they never create one.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12324A"/>
          </a:solidFill>
          <a:ln w="12700">
            <a:solidFill>
              <a:srgbClr val="0D9488"/>
            </a:solidFill>
            <a:prstDash val="solid"/>
          </a:ln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230368"/>
            <a:ext cx="502920" cy="5029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508760" y="502920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 → the LLM is additive, not disruptive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1508760" y="54132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semantic term renormalizes over available signals (name trigram + vocab now; the llm_score socket dormant). When Phase-2 lands it sharpens resolution without shifting band centers — validated by an explicit invariance test. Phase-1 confirmed edges stay confirmed.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OUTPUT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band with two axes — not a bare float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composite orders the steward queue; the decomposition drives the decision. The two middle bands are different findings, not weaker versions of a strong FK.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0B243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8620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(IND)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715000" y="18745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(sem.)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69480" y="1874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read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660904"/>
            <a:ext cx="164592" cy="164592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2377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FK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88620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23774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2377440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questions pass — likely auto-confirmable.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3127248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EF4F8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410712"/>
            <a:ext cx="164592" cy="164592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128" y="3127248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— name mismatch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886200" y="3127248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715000" y="3127248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69480" y="3127248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real, renamed FK. The valuable cross-system find; human confirms the semantic link.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3877056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160520"/>
            <a:ext cx="164592" cy="164592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24" name="Text 22"/>
          <p:cNvSpPr/>
          <p:nvPr/>
        </p:nvSpPr>
        <p:spPr>
          <a:xfrm>
            <a:off x="1024128" y="387705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Coincidental overlap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886200" y="3877056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High, no asymmetry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3877056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3877056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code space, not an FK. Values overlap without a parent/child cardinality gap.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548640" y="4626864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EEF4F8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910328"/>
            <a:ext cx="164592" cy="164592"/>
          </a:xfrm>
          <a:prstGeom prst="ellipse">
            <a:avLst/>
          </a:prstGeom>
          <a:solidFill>
            <a:srgbClr val="F0625E"/>
          </a:solidFill>
          <a:ln/>
        </p:spPr>
      </p:sp>
      <p:sp>
        <p:nvSpPr>
          <p:cNvPr id="30" name="Text 28"/>
          <p:cNvSpPr/>
          <p:nvPr/>
        </p:nvSpPr>
        <p:spPr>
          <a:xfrm>
            <a:off x="1024128" y="462686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Semantic-only suspect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886200" y="4626864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715000" y="4626864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69480" y="4626864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match, data doesn't — schema drift or a dead relationship. Surface, don't confirm.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548640" y="5376672"/>
            <a:ext cx="1106424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9525">
            <a:solidFill>
              <a:srgbClr val="D9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77240" y="5660136"/>
            <a:ext cx="164592" cy="164592"/>
          </a:xfrm>
          <a:prstGeom prst="ellipse">
            <a:avLst/>
          </a:prstGeom>
          <a:solidFill>
            <a:srgbClr val="5C6E7E"/>
          </a:solidFill>
          <a:ln/>
        </p:spPr>
      </p:sp>
      <p:sp>
        <p:nvSpPr>
          <p:cNvPr id="36" name="Text 34"/>
          <p:cNvSpPr/>
          <p:nvPr/>
        </p:nvSpPr>
        <p:spPr>
          <a:xfrm>
            <a:off x="1024128" y="537667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3886200" y="537667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gate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53766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69480" y="5376672"/>
            <a:ext cx="4251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8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relationship. No semantic signal can lift it over the gate.</a:t>
            </a:r>
            <a:endParaRPr lang="en-US" sz="1080" dirty="0"/>
          </a:p>
        </p:txBody>
      </p:sp>
      <p:sp>
        <p:nvSpPr>
          <p:cNvPr id="40" name="Text 38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NAME SIMILARITY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prior everywhere — a veto nowhere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46504"/>
            <a:ext cx="493776" cy="493776"/>
          </a:xfrm>
          <a:prstGeom prst="ellipse">
            <a:avLst/>
          </a:prstGeom>
          <a:solidFill>
            <a:srgbClr val="E7F6F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86994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7465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Queue-ordering prior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86384" y="2286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6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0.6·trigram + 0.4·vocab agreement orders which pairs get probed first. Cheap, high-yield pairs surface early.</a:t>
            </a:r>
            <a:endParaRPr lang="en-US" sz="1060" dirty="0"/>
          </a:p>
        </p:txBody>
      </p:sp>
      <p:sp>
        <p:nvSpPr>
          <p:cNvPr id="9" name="Shape 6"/>
          <p:cNvSpPr/>
          <p:nvPr/>
        </p:nvSpPr>
        <p:spPr>
          <a:xfrm>
            <a:off x="4206240" y="1508760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25696" y="1746504"/>
            <a:ext cx="493776" cy="493776"/>
          </a:xfrm>
          <a:prstGeom prst="ellipse">
            <a:avLst/>
          </a:prstGeom>
          <a:solidFill>
            <a:srgbClr val="E7F6F3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9140" y="1869948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047488" y="174650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Cold-path nominator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43984" y="228600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6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— for lookup tables absent from audit history, name affinity nominates candidate pairs into the queue.</a:t>
            </a:r>
            <a:endParaRPr lang="en-US" sz="1060" dirty="0"/>
          </a:p>
        </p:txBody>
      </p:sp>
      <p:sp>
        <p:nvSpPr>
          <p:cNvPr id="14" name="Shape 10"/>
          <p:cNvSpPr/>
          <p:nvPr/>
        </p:nvSpPr>
        <p:spPr>
          <a:xfrm>
            <a:off x="548640" y="3081528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8096" y="3319272"/>
            <a:ext cx="493776" cy="493776"/>
          </a:xfrm>
          <a:prstGeom prst="ellipse">
            <a:avLst/>
          </a:prstGeom>
          <a:solidFill>
            <a:srgbClr val="E7F6F3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344271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89888" y="3319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modulation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86384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6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bounded semantic term in Step 3. Nudges a value-confirmed score up or down within its band.</a:t>
            </a:r>
            <a:endParaRPr lang="en-US" sz="1060" dirty="0"/>
          </a:p>
        </p:txBody>
      </p:sp>
      <p:sp>
        <p:nvSpPr>
          <p:cNvPr id="19" name="Shape 14"/>
          <p:cNvSpPr/>
          <p:nvPr/>
        </p:nvSpPr>
        <p:spPr>
          <a:xfrm>
            <a:off x="4206240" y="3081528"/>
            <a:ext cx="34747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425696" y="3319272"/>
            <a:ext cx="493776" cy="493776"/>
          </a:xfrm>
          <a:prstGeom prst="ellipse">
            <a:avLst/>
          </a:prstGeom>
          <a:solidFill>
            <a:srgbClr val="E7F6F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9140" y="344271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47488" y="331927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Disambiguator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4443984" y="3858768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6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several already value-confirmed containments, name signals resolve which alignment is the intended one.</a:t>
            </a:r>
            <a:endParaRPr lang="en-US" sz="1060" dirty="0"/>
          </a:p>
        </p:txBody>
      </p:sp>
      <p:sp>
        <p:nvSpPr>
          <p:cNvPr id="24" name="Shape 18"/>
          <p:cNvSpPr/>
          <p:nvPr/>
        </p:nvSpPr>
        <p:spPr>
          <a:xfrm>
            <a:off x="8001000" y="1508760"/>
            <a:ext cx="3611880" cy="4572000"/>
          </a:xfrm>
          <a:prstGeom prst="roundRect">
            <a:avLst>
              <a:gd name="adj" fmla="val 2278"/>
            </a:avLst>
          </a:prstGeom>
          <a:solidFill>
            <a:srgbClr val="0B2436"/>
          </a:solidFill>
          <a:ln/>
          <a:effectLst>
            <a:outerShdw blurRad="114300" dist="38100" dir="5400000" algn="bl" rotWithShape="0">
              <a:srgbClr val="0B2436">
                <a:alpha val="14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178308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823960" y="181051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6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no-veto guarantee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8275320" y="2377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path drops a pair carrying value or audit evidence for low name similarity. The guard is structural — nothing in the candidate generators excludes on name_prior.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275320" y="3611880"/>
            <a:ext cx="3108960" cy="2194560"/>
          </a:xfrm>
          <a:prstGeom prst="roundRect">
            <a:avLst>
              <a:gd name="adj" fmla="val 3750"/>
            </a:avLst>
          </a:prstGeom>
          <a:solidFill>
            <a:srgbClr val="12324A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84582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84582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cust_ref  →  customer_key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458200" y="4526280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FKs have near-zero name similarity yet are the highest-value cross-system finds. A name veto would silently discard exactly what the platform exists to discover.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PARTITION &amp; CLUSTERING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signals invert the composite problem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keys, clustering columns and declared indexes are the strongest declarative signal short of a constraint — primary seeds, not fallbacks. An exhaustive lattice walk is unscalable at 10K tables.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86384" y="2221992"/>
            <a:ext cx="530352" cy="530352"/>
          </a:xfrm>
          <a:prstGeom prst="ellipse">
            <a:avLst/>
          </a:prstGeom>
          <a:solidFill>
            <a:srgbClr val="FBF1DF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350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boosts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289864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that are partition or clustering keys jump the work queue — they are the columns the warehouse itself joins 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51960" y="196596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9704" y="2221992"/>
            <a:ext cx="530352" cy="530352"/>
          </a:xfrm>
          <a:prstGeom prst="ellipse">
            <a:avLst/>
          </a:prstGeom>
          <a:solidFill>
            <a:srgbClr val="FBF1DF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3500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6636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composite seeds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07992" y="289864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clustering key set is a pre-formed composite candidate. It bypasses grouping search entirely in composite discovery.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55280" y="1965960"/>
            <a:ext cx="34290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93024" y="2221992"/>
            <a:ext cx="530352" cy="530352"/>
          </a:xfrm>
          <a:prstGeom prst="ellipse">
            <a:avLst/>
          </a:prstGeom>
          <a:solidFill>
            <a:srgbClr val="FBF1DF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35000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69680" y="22402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 input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11312" y="2898648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with cardinality, structural metadata helps route STANDARD vs MEGA and seed which pairs are worth sketching at all.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4864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C9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SEEDING TIERS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2A06B"/>
            </a:solidFill>
            <a:prstDash val="solid"/>
          </a:ln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49808" y="47274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23" name="Text 18"/>
          <p:cNvSpPr/>
          <p:nvPr/>
        </p:nvSpPr>
        <p:spPr>
          <a:xfrm>
            <a:off x="749808" y="47274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0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768096" y="5129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constraints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768096" y="5513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where present</a:t>
            </a:r>
            <a:endParaRPr lang="en-US" sz="980" dirty="0"/>
          </a:p>
        </p:txBody>
      </p:sp>
      <p:sp>
        <p:nvSpPr>
          <p:cNvPr id="26" name="Shape 21"/>
          <p:cNvSpPr/>
          <p:nvPr/>
        </p:nvSpPr>
        <p:spPr>
          <a:xfrm>
            <a:off x="3172968" y="5212080"/>
            <a:ext cx="146304" cy="0"/>
          </a:xfrm>
          <a:prstGeom prst="line">
            <a:avLst/>
          </a:prstGeom>
          <a:noFill/>
          <a:ln w="25400">
            <a:solidFill>
              <a:srgbClr val="8FA0AD"/>
            </a:solidFill>
            <a:prstDash val="solid"/>
            <a:tailEnd type="triangle"/>
          </a:ln>
        </p:spPr>
      </p:sp>
      <p:sp>
        <p:nvSpPr>
          <p:cNvPr id="27" name="Shape 22"/>
          <p:cNvSpPr/>
          <p:nvPr/>
        </p:nvSpPr>
        <p:spPr>
          <a:xfrm>
            <a:off x="3337560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0A020"/>
            </a:solidFill>
            <a:prstDash val="solid"/>
          </a:ln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3538728" y="47274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29" name="Text 24"/>
          <p:cNvSpPr/>
          <p:nvPr/>
        </p:nvSpPr>
        <p:spPr>
          <a:xfrm>
            <a:off x="3538728" y="47274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557016" y="5129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/ clustering keys</a:t>
            </a:r>
            <a:endParaRPr lang="en-US" sz="1250" dirty="0"/>
          </a:p>
        </p:txBody>
      </p:sp>
      <p:sp>
        <p:nvSpPr>
          <p:cNvPr id="31" name="Text 26"/>
          <p:cNvSpPr/>
          <p:nvPr/>
        </p:nvSpPr>
        <p:spPr>
          <a:xfrm>
            <a:off x="3557016" y="5513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declarative seed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5961888" y="5212080"/>
            <a:ext cx="146304" cy="0"/>
          </a:xfrm>
          <a:prstGeom prst="line">
            <a:avLst/>
          </a:prstGeom>
          <a:noFill/>
          <a:ln w="25400">
            <a:solidFill>
              <a:srgbClr val="8FA0AD"/>
            </a:solidFill>
            <a:prstDash val="solid"/>
            <a:tailEnd type="triangle"/>
          </a:ln>
        </p:spPr>
      </p:sp>
      <p:sp>
        <p:nvSpPr>
          <p:cNvPr id="33" name="Shape 28"/>
          <p:cNvSpPr/>
          <p:nvPr/>
        </p:nvSpPr>
        <p:spPr>
          <a:xfrm>
            <a:off x="6126480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B5CF6"/>
            </a:solidFill>
            <a:prstDash val="solid"/>
          </a:ln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327648" y="47274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5" name="Text 30"/>
          <p:cNvSpPr/>
          <p:nvPr/>
        </p:nvSpPr>
        <p:spPr>
          <a:xfrm>
            <a:off x="6327648" y="47274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345936" y="5129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Audit-log co-occurrence</a:t>
            </a:r>
            <a:endParaRPr lang="en-US" sz="1250" dirty="0"/>
          </a:p>
        </p:txBody>
      </p:sp>
      <p:sp>
        <p:nvSpPr>
          <p:cNvPr id="37" name="Text 32"/>
          <p:cNvSpPr/>
          <p:nvPr/>
        </p:nvSpPr>
        <p:spPr>
          <a:xfrm>
            <a:off x="6345936" y="5513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column-group patterns</a:t>
            </a:r>
            <a:endParaRPr lang="en-US" sz="980" dirty="0"/>
          </a:p>
        </p:txBody>
      </p:sp>
      <p:sp>
        <p:nvSpPr>
          <p:cNvPr id="38" name="Shape 33"/>
          <p:cNvSpPr/>
          <p:nvPr/>
        </p:nvSpPr>
        <p:spPr>
          <a:xfrm>
            <a:off x="8750808" y="5212080"/>
            <a:ext cx="146304" cy="0"/>
          </a:xfrm>
          <a:prstGeom prst="line">
            <a:avLst/>
          </a:prstGeom>
          <a:noFill/>
          <a:ln w="25400">
            <a:solidFill>
              <a:srgbClr val="8FA0AD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8915400" y="4526280"/>
            <a:ext cx="260604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5C6E7E"/>
            </a:solidFill>
            <a:prstDash val="solid"/>
          </a:ln>
          <a:effectLst>
            <a:outerShdw blurRad="88900" dist="25400" dir="5400000" algn="bl" rotWithShape="0">
              <a:srgbClr val="0B2436">
                <a:alpha val="10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9116568" y="472744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5C6E7E"/>
          </a:solidFill>
          <a:ln/>
        </p:spPr>
      </p:sp>
      <p:sp>
        <p:nvSpPr>
          <p:cNvPr id="41" name="Text 36"/>
          <p:cNvSpPr/>
          <p:nvPr/>
        </p:nvSpPr>
        <p:spPr>
          <a:xfrm>
            <a:off x="9116568" y="47274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9134856" y="512978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lattice fallback</a:t>
            </a:r>
            <a:endParaRPr lang="en-US" sz="1250" dirty="0"/>
          </a:p>
        </p:txBody>
      </p:sp>
      <p:sp>
        <p:nvSpPr>
          <p:cNvPr id="43" name="Text 38"/>
          <p:cNvSpPr/>
          <p:nvPr/>
        </p:nvSpPr>
        <p:spPr>
          <a:xfrm>
            <a:off x="9134856" y="551383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/ unpartitioned only</a:t>
            </a:r>
            <a:endParaRPr lang="en-US" sz="980" dirty="0"/>
          </a:p>
        </p:txBody>
      </p:sp>
      <p:sp>
        <p:nvSpPr>
          <p:cNvPr id="44" name="Text 3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45" name="Text 40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GLOBAL &amp; LOCAL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Neither an all-pairs batch nor an on-demand table scan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work is event-driven; global work is an incremental delta; the scheduled job only detects drift and emits events — it never does discovery itself.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503920" y="603504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705088" y="539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9921240" y="603504"/>
            <a:ext cx="146304" cy="146304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8" name="Text 6"/>
          <p:cNvSpPr/>
          <p:nvPr/>
        </p:nvSpPr>
        <p:spPr>
          <a:xfrm>
            <a:off x="10122408" y="539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1338560" y="603504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11539728" y="539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PAIR-LOCAL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11064240" cy="457200"/>
          </a:xfrm>
          <a:prstGeom prst="roundRect">
            <a:avLst>
              <a:gd name="adj" fmla="val 18000"/>
            </a:avLst>
          </a:prstGeom>
          <a:solidFill>
            <a:srgbClr val="0B2436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1828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75888" y="18288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93208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93608" y="1828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Cadence / rationale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28600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2464308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987552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&amp; fence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0" y="2286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74920" y="22860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epoch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8275320" y="22860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metadata pass — daily or on demand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548640" y="278892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EEF4F8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" y="2967228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2788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seeding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7492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once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8275320" y="27889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 from audit logs; then incremental deltas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3470148"/>
            <a:ext cx="146304" cy="146304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30" name="Text 28"/>
          <p:cNvSpPr/>
          <p:nvPr/>
        </p:nvSpPr>
        <p:spPr>
          <a:xfrm>
            <a:off x="987552" y="3291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sketch ride-along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657600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7492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Table-arrival / load event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8275320" y="32918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table, when it loads — no calendar; rides profiling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548640" y="379476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EEF4F8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3973068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987552" y="37947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→ LSH band delta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657600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74920" y="3794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batch of sketches lands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275320" y="379476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Insert-only micro-batch; hash new sigs, emit new collisions</a:t>
            </a:r>
            <a:endParaRPr lang="en-US" sz="1030" dirty="0"/>
          </a:p>
        </p:txBody>
      </p:sp>
      <p:sp>
        <p:nvSpPr>
          <p:cNvPr id="40" name="Shape 38"/>
          <p:cNvSpPr/>
          <p:nvPr/>
        </p:nvSpPr>
        <p:spPr>
          <a:xfrm>
            <a:off x="548640" y="429768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" y="4475988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2" name="Text 40"/>
          <p:cNvSpPr/>
          <p:nvPr/>
        </p:nvSpPr>
        <p:spPr>
          <a:xfrm>
            <a:off x="987552" y="42976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evaluation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3657600" y="42976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074920" y="42976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Work-queue drain</a:t>
            </a:r>
            <a:endParaRPr lang="en-US" sz="1080" dirty="0"/>
          </a:p>
        </p:txBody>
      </p:sp>
      <p:sp>
        <p:nvSpPr>
          <p:cNvPr id="45" name="Text 43"/>
          <p:cNvSpPr/>
          <p:nvPr/>
        </p:nvSpPr>
        <p:spPr>
          <a:xfrm>
            <a:off x="8275320" y="42976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budgeted (claim / lease FSM)</a:t>
            </a:r>
            <a:endParaRPr lang="en-US" sz="1030" dirty="0"/>
          </a:p>
        </p:txBody>
      </p:sp>
      <p:sp>
        <p:nvSpPr>
          <p:cNvPr id="46" name="Shape 44"/>
          <p:cNvSpPr/>
          <p:nvPr/>
        </p:nvSpPr>
        <p:spPr>
          <a:xfrm>
            <a:off x="548640" y="480060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EEF4F8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9808" y="4978908"/>
            <a:ext cx="146304" cy="146304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48" name="Text 46"/>
          <p:cNvSpPr/>
          <p:nvPr/>
        </p:nvSpPr>
        <p:spPr>
          <a:xfrm>
            <a:off x="987552" y="4800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detection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3657600" y="48006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0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074920" y="4800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— weekly</a:t>
            </a:r>
            <a:endParaRPr lang="en-US" sz="1080" dirty="0"/>
          </a:p>
        </p:txBody>
      </p:sp>
      <p:sp>
        <p:nvSpPr>
          <p:cNvPr id="51" name="Text 49"/>
          <p:cNvSpPr/>
          <p:nvPr/>
        </p:nvSpPr>
        <p:spPr>
          <a:xfrm>
            <a:off x="8275320" y="480060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work &amp; emits events; does no discovery</a:t>
            </a:r>
            <a:endParaRPr lang="en-US" sz="1030" dirty="0"/>
          </a:p>
        </p:txBody>
      </p:sp>
      <p:sp>
        <p:nvSpPr>
          <p:cNvPr id="52" name="Shape 50"/>
          <p:cNvSpPr/>
          <p:nvPr/>
        </p:nvSpPr>
        <p:spPr>
          <a:xfrm>
            <a:off x="548640" y="530352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9808" y="5481828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4" name="Text 52"/>
          <p:cNvSpPr/>
          <p:nvPr/>
        </p:nvSpPr>
        <p:spPr>
          <a:xfrm>
            <a:off x="987552" y="5303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discovery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3657600" y="5303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074920" y="53035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event (≥2 edges)</a:t>
            </a:r>
            <a:endParaRPr lang="en-US" sz="1080" dirty="0"/>
          </a:p>
        </p:txBody>
      </p:sp>
      <p:sp>
        <p:nvSpPr>
          <p:cNvPr id="57" name="Text 55"/>
          <p:cNvSpPr/>
          <p:nvPr/>
        </p:nvSpPr>
        <p:spPr>
          <a:xfrm>
            <a:off x="8275320" y="530352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Per-table-pair, only after unary edges settle</a:t>
            </a:r>
            <a:endParaRPr lang="en-US" sz="1030" dirty="0"/>
          </a:p>
        </p:txBody>
      </p:sp>
      <p:sp>
        <p:nvSpPr>
          <p:cNvPr id="58" name="Shape 56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6364"/>
            </a:avLst>
          </a:prstGeom>
          <a:solidFill>
            <a:srgbClr val="EEF4F8"/>
          </a:solidFill>
          <a:ln w="6350">
            <a:solidFill>
              <a:srgbClr val="D9E2E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49808" y="5984748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60" name="Text 58"/>
          <p:cNvSpPr/>
          <p:nvPr/>
        </p:nvSpPr>
        <p:spPr>
          <a:xfrm>
            <a:off x="987552" y="5806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monitor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3657600" y="58064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5074920" y="5806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 drift</a:t>
            </a:r>
            <a:endParaRPr lang="en-US" sz="1080" dirty="0"/>
          </a:p>
        </p:txBody>
      </p:sp>
      <p:sp>
        <p:nvSpPr>
          <p:cNvPr id="63" name="Text 61"/>
          <p:cNvSpPr/>
          <p:nvPr/>
        </p:nvSpPr>
        <p:spPr>
          <a:xfrm>
            <a:off x="8275320" y="580644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Re-probe CONFIRMED edges only when data shifts</a:t>
            </a:r>
            <a:endParaRPr lang="en-US" sz="1030" dirty="0"/>
          </a:p>
        </p:txBody>
      </p:sp>
      <p:sp>
        <p:nvSpPr>
          <p:cNvPr id="64" name="Text 62"/>
          <p:cNvSpPr/>
          <p:nvPr/>
        </p:nvSpPr>
        <p:spPr>
          <a:xfrm>
            <a:off x="54864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Airflow:  </a:t>
            </a:r>
            <a:r>
              <a:rPr lang="en-US" sz="11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DAG</a:t>
            </a:r>
            <a:r>
              <a:rPr lang="en-US" sz="11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(manual, schedule=None)  +  </a:t>
            </a:r>
            <a:r>
              <a:rPr lang="en-US" sz="1150" b="1" dirty="0">
                <a:solidFill>
                  <a:srgbClr val="C97C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DAG</a:t>
            </a:r>
            <a:r>
              <a:rPr lang="en-US" sz="1150" dirty="0">
                <a:solidFill>
                  <a:srgbClr val="1E3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(weekly:  detect_drift  →  run_discovery_batch).</a:t>
            </a:r>
            <a:endParaRPr lang="en-US" sz="1150" dirty="0"/>
          </a:p>
        </p:txBody>
      </p:sp>
      <p:sp>
        <p:nvSpPr>
          <p:cNvPr id="65" name="Text 63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Relationship Discovery  ·  Constraint-free FK / IND inference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1277295" y="64739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48640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53035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End-to-end: six stages, three planes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8595360" y="713232"/>
            <a:ext cx="137160" cy="1371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" name="Text 2"/>
          <p:cNvSpPr/>
          <p:nvPr/>
        </p:nvSpPr>
        <p:spPr>
          <a:xfrm>
            <a:off x="8778240" y="640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FC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9829800" y="713232"/>
            <a:ext cx="137160" cy="1371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7" name="Text 4"/>
          <p:cNvSpPr/>
          <p:nvPr/>
        </p:nvSpPr>
        <p:spPr>
          <a:xfrm>
            <a:off x="10012680" y="640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FC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1064240" y="713232"/>
            <a:ext cx="137160" cy="1371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9" name="Text 6"/>
          <p:cNvSpPr/>
          <p:nvPr/>
        </p:nvSpPr>
        <p:spPr>
          <a:xfrm>
            <a:off x="11247120" y="6400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AFC1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PAIR-LOCAL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40080" y="1691640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2324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68096" y="1764792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9"/>
          <p:cNvSpPr/>
          <p:nvPr/>
        </p:nvSpPr>
        <p:spPr>
          <a:xfrm>
            <a:off x="768096" y="1764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298448" y="169164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 &amp; fence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434840" y="181051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15" name="Text 12"/>
          <p:cNvSpPr/>
          <p:nvPr/>
        </p:nvSpPr>
        <p:spPr>
          <a:xfrm>
            <a:off x="4434840" y="181051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897880" y="169164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→ ~160K eligible; tier assignment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2295144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2324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8096" y="2368296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6"/>
          <p:cNvSpPr/>
          <p:nvPr/>
        </p:nvSpPr>
        <p:spPr>
          <a:xfrm>
            <a:off x="768096" y="2368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298448" y="229514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seeding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434840" y="241401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22" name="Text 19"/>
          <p:cNvSpPr/>
          <p:nvPr/>
        </p:nvSpPr>
        <p:spPr>
          <a:xfrm>
            <a:off x="4434840" y="241401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97880" y="229514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unary → queue; composites held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40080" y="2898648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2324A"/>
          </a:solidFill>
          <a:ln w="12700">
            <a:solidFill>
              <a:srgbClr val="F0A02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8096" y="2971800"/>
            <a:ext cx="365760" cy="365760"/>
          </a:xfrm>
          <a:prstGeom prst="ellipse">
            <a:avLst/>
          </a:prstGeom>
          <a:solidFill>
            <a:srgbClr val="F0A020"/>
          </a:solidFill>
          <a:ln/>
        </p:spPr>
      </p:sp>
      <p:sp>
        <p:nvSpPr>
          <p:cNvPr id="26" name="Text 23"/>
          <p:cNvSpPr/>
          <p:nvPr/>
        </p:nvSpPr>
        <p:spPr>
          <a:xfrm>
            <a:off x="768096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1298448" y="2898648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+ sketch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434840" y="3017520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F0A020"/>
          </a:solidFill>
          <a:ln/>
        </p:spPr>
      </p:sp>
      <p:sp>
        <p:nvSpPr>
          <p:cNvPr id="29" name="Text 26"/>
          <p:cNvSpPr/>
          <p:nvPr/>
        </p:nvSpPr>
        <p:spPr>
          <a:xfrm>
            <a:off x="4434840" y="3017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B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897880" y="2898648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data scans; HLL + MinHash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40080" y="3502152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2324A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68096" y="3575304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Text 30"/>
          <p:cNvSpPr/>
          <p:nvPr/>
        </p:nvSpPr>
        <p:spPr>
          <a:xfrm>
            <a:off x="768096" y="3575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34" name="Text 31"/>
          <p:cNvSpPr/>
          <p:nvPr/>
        </p:nvSpPr>
        <p:spPr>
          <a:xfrm>
            <a:off x="1298448" y="3502152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LSH banding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4434840" y="3621024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36" name="Text 33"/>
          <p:cNvSpPr/>
          <p:nvPr/>
        </p:nvSpPr>
        <p:spPr>
          <a:xfrm>
            <a:off x="4434840" y="362102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L2·global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897880" y="3502152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~150 MB; incremental collision delta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40080" y="4105656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232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68096" y="4178808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0" name="Text 37"/>
          <p:cNvSpPr/>
          <p:nvPr/>
        </p:nvSpPr>
        <p:spPr>
          <a:xfrm>
            <a:off x="768096" y="41788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41" name="Text 38"/>
          <p:cNvSpPr/>
          <p:nvPr/>
        </p:nvSpPr>
        <p:spPr>
          <a:xfrm>
            <a:off x="1298448" y="4105656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evaluation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434840" y="422452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43" name="Text 40"/>
          <p:cNvSpPr/>
          <p:nvPr/>
        </p:nvSpPr>
        <p:spPr>
          <a:xfrm>
            <a:off x="4434840" y="42245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L2·pair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897880" y="4105656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 probes → scored edges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40080" y="4709160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232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68096" y="4782312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7" name="Text 44"/>
          <p:cNvSpPr/>
          <p:nvPr/>
        </p:nvSpPr>
        <p:spPr>
          <a:xfrm>
            <a:off x="768096" y="4782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48" name="Text 45"/>
          <p:cNvSpPr/>
          <p:nvPr/>
        </p:nvSpPr>
        <p:spPr>
          <a:xfrm>
            <a:off x="1298448" y="4709160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4434840" y="4828032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50" name="Text 47"/>
          <p:cNvSpPr/>
          <p:nvPr/>
        </p:nvSpPr>
        <p:spPr>
          <a:xfrm>
            <a:off x="4434840" y="4828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L2·pair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5897880" y="470916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 + lifecycle FSM + conformance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640080" y="5312664"/>
            <a:ext cx="10881360" cy="512064"/>
          </a:xfrm>
          <a:prstGeom prst="roundRect">
            <a:avLst>
              <a:gd name="adj" fmla="val 16071"/>
            </a:avLst>
          </a:prstGeom>
          <a:solidFill>
            <a:srgbClr val="12324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68096" y="5385816"/>
            <a:ext cx="365760" cy="36576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54" name="Text 51"/>
          <p:cNvSpPr/>
          <p:nvPr/>
        </p:nvSpPr>
        <p:spPr>
          <a:xfrm>
            <a:off x="768096" y="5385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55" name="Text 52"/>
          <p:cNvSpPr/>
          <p:nvPr/>
        </p:nvSpPr>
        <p:spPr>
          <a:xfrm>
            <a:off x="1298448" y="5312664"/>
            <a:ext cx="3108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phase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4434840" y="543153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57" name="Text 54"/>
          <p:cNvSpPr/>
          <p:nvPr/>
        </p:nvSpPr>
        <p:spPr>
          <a:xfrm>
            <a:off x="4434840" y="54315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L2·pair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5897880" y="5312664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D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per-table-pair on ≥2 settled edges</a:t>
            </a:r>
            <a:endParaRPr lang="en-US" sz="1150" dirty="0"/>
          </a:p>
        </p:txBody>
      </p:sp>
      <p:sp>
        <p:nvSpPr>
          <p:cNvPr id="59" name="Text 56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is dominated by Stage 2 — which you already pay for profiling.  </a:t>
            </a:r>
            <a:r>
              <a:rPr lang="en-US" sz="13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anywhere is O(N²) over data.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2532</Words>
  <Application>Microsoft Office PowerPoint</Application>
  <PresentationFormat>Widescreen</PresentationFormat>
  <Paragraphs>360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Relationship Discovery — Layered Architecture</dc:title>
  <dc:subject>PptxGenJS Presentation</dc:subject>
  <dc:creator>Aashish Sehgal</dc:creator>
  <cp:lastModifiedBy>Aashish Sehgal</cp:lastModifiedBy>
  <cp:revision>2</cp:revision>
  <dcterms:created xsi:type="dcterms:W3CDTF">2026-07-07T03:21:47Z</dcterms:created>
  <dcterms:modified xsi:type="dcterms:W3CDTF">2026-07-07T03:40:47Z</dcterms:modified>
</cp:coreProperties>
</file>